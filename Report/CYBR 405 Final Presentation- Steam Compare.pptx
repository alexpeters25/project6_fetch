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2" r:id="rId8"/>
    <p:sldId id="261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0F4"/>
    <a:srgbClr val="2A475E"/>
    <a:srgbClr val="C7D5E0"/>
    <a:srgbClr val="171A21"/>
    <a:srgbClr val="C7D5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81CE-2BDD-BC54-7575-CC5E4E195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F6DBD-7CB5-A670-3F23-8589285BB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C64A4-4C94-7062-A545-4644BC7DA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9D11-711D-4D12-8773-25C0DE87608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32079-928C-B216-5685-FE6E53428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BBD0C-BB6D-E844-B480-CA05BCC1A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4C3-855A-4852-B7CD-42457C5E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777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AA76D-BE30-EDAE-CB45-734B203E3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CB72-5AAB-7F6F-1B5D-EB797E4C6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1FF44-D3D0-F75B-ED5C-DB090C8F3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9D11-711D-4D12-8773-25C0DE87608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47D50-7208-B8E4-8803-9ECEBCD98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99A69-9D30-2575-CFD6-645AC2BB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4C3-855A-4852-B7CD-42457C5E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81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20740-8021-B283-0483-846E528E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C2A19-D303-E528-C10F-6F1E1D140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5DD95-FDFD-D6E7-AF9B-502614408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9D11-711D-4D12-8773-25C0DE87608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E7106-B679-2004-51B8-B9583D4F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9B16A-69F0-5414-3FA7-BB91D1BB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4C3-855A-4852-B7CD-42457C5E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038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7F6BD-F3CB-88B5-28BF-97F43ADE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6F6A0-0BDF-2207-D005-06CB29CB3D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BC210-3E35-2D7F-0379-C55275AC6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09EE0-CD4C-1B21-5AAC-29B3BAF1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9D11-711D-4D12-8773-25C0DE87608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82883-C3E2-C226-0E08-F03739FD4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38DD4-EAC9-3CA8-C015-4FB50CBB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4C3-855A-4852-B7CD-42457C5E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449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BDB66-10FA-30E9-2930-5C528C0AA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9C73A-87EB-3F28-9894-7CD28EE61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FB8F11-73C6-EEE5-68D5-8B422B636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49C8B-A0BF-2BE3-E9C5-6156F734F0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4C642C-7638-6219-62AA-DAC0BA119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B11485-A17C-2E93-9387-AC590624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9D11-711D-4D12-8773-25C0DE87608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5F722C-DBDF-9FA2-19B7-EEC2911FA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06FB4-8907-28F4-A36A-00997234E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4C3-855A-4852-B7CD-42457C5E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344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7D1D6-A845-F692-2D23-BB86329A1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8E7E8A-0D35-0050-490D-BA9CC91B7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9D11-711D-4D12-8773-25C0DE87608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07D9CF-6EEC-4B7A-AC98-4744D7B8D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4EC35-CE60-B30E-7E89-A6AC14599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4C3-855A-4852-B7CD-42457C5E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7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18A9F9-DB38-940A-1D90-C4282A54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9D11-711D-4D12-8773-25C0DE87608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37CF1D-0B6B-F0B8-C22F-4F4270754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DD512-D861-76C4-5A45-B57C1E6E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4C3-855A-4852-B7CD-42457C5E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0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19BF-3B24-89A4-9B18-0BD435D8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7F4A3-8F92-F0EE-813C-CE7E462E1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256070-05D3-8A51-0BBE-31DB0E675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684EF-D931-7190-F3EB-2F50E7348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9D11-711D-4D12-8773-25C0DE87608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99944-7EBA-6062-6A51-32C208A4D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1CB49-1125-703F-545C-B2FCC4C13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4C3-855A-4852-B7CD-42457C5E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06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5928-9D56-1997-6A54-D44F674C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0387C8-A8DE-87FB-598F-E610855C8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BC667-C70A-15CC-19CB-AF39D4983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7F081-85AE-82BA-4C95-543DE27B4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9D11-711D-4D12-8773-25C0DE87608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1659B-66E8-C9E0-8860-8B836C04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09A61-BF01-EDAE-888D-357008EE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4C3-855A-4852-B7CD-42457C5E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4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4DC6F-42AA-FDD2-BF33-533CAA137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D51989-9B50-8617-8A02-99BEF8747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A08CD-E754-E02B-FC61-346F9AED1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9D11-711D-4D12-8773-25C0DE87608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17C9F-0E9F-F5B6-DF7E-EF323076B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F2F22-85E8-4167-8926-0FA658717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4C3-855A-4852-B7CD-42457C5E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97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1C6D8-1A2D-C60B-70BD-F8DFE364B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2F556F-6D72-2180-ED41-74CA74965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07BD8-E42C-5BD1-C3C0-D35B2C845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A9D11-711D-4D12-8773-25C0DE87608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69296-FE5C-4129-7D00-88FF81D08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295AB-027D-9CED-984D-2E3D896FD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E64C3-855A-4852-B7CD-42457C5E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3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CE608-5C4A-04BD-FFF7-50722701B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8FC77-3BB4-46B2-D297-A38256415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31799-B538-E4F7-980F-B0C511394B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A9D11-711D-4D12-8773-25C0DE87608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7EECA-1FB4-71DC-DB75-AED197F434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FDE7F-3A27-4F3E-2ABD-A74DC1B76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E64C3-855A-4852-B7CD-42457C5E7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1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D6FBEB-9C75-2CCA-FDCA-CB4608B9F184}"/>
              </a:ext>
            </a:extLst>
          </p:cNvPr>
          <p:cNvSpPr/>
          <p:nvPr/>
        </p:nvSpPr>
        <p:spPr>
          <a:xfrm>
            <a:off x="0" y="-57150"/>
            <a:ext cx="12295414" cy="7045779"/>
          </a:xfrm>
          <a:prstGeom prst="rect">
            <a:avLst/>
          </a:prstGeom>
          <a:solidFill>
            <a:srgbClr val="171A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72A4FC-F8A6-C19B-3C04-CC4B402E63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7D5E0"/>
                </a:solidFill>
              </a:rPr>
              <a:t>CYBR 405: Steam Compare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A7B718-C9BB-9E6B-B704-CBDA34F885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C7D5E0"/>
                </a:solidFill>
              </a:rPr>
              <a:t>Zach Madison, Alex Peters</a:t>
            </a:r>
          </a:p>
        </p:txBody>
      </p:sp>
    </p:spTree>
    <p:extLst>
      <p:ext uri="{BB962C8B-B14F-4D97-AF65-F5344CB8AC3E}">
        <p14:creationId xmlns:p14="http://schemas.microsoft.com/office/powerpoint/2010/main" val="657961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3924D-E13F-5D41-6296-4E92764D3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DA0207-ED1E-1A9E-04BB-575C107CDB42}"/>
              </a:ext>
            </a:extLst>
          </p:cNvPr>
          <p:cNvSpPr/>
          <p:nvPr/>
        </p:nvSpPr>
        <p:spPr>
          <a:xfrm>
            <a:off x="-65314" y="-204107"/>
            <a:ext cx="12360728" cy="7192737"/>
          </a:xfrm>
          <a:prstGeom prst="rect">
            <a:avLst/>
          </a:prstGeom>
          <a:solidFill>
            <a:srgbClr val="2A47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C8E9C9C-6237-2CEF-6DBF-47BEAB532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7D5E0"/>
                </a:solidFill>
              </a:rPr>
              <a:t>Chosen API: Steam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A39DC3-729B-5AE4-A812-BF7896EC6B10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66C0F4"/>
          </a:solidFill>
          <a:ln w="3175">
            <a:noFill/>
          </a:ln>
          <a:effectLst>
            <a:glow rad="101600">
              <a:srgbClr val="66C0F4">
                <a:alpha val="60000"/>
              </a:srgbClr>
            </a:glow>
          </a:effectLst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171A21"/>
                </a:solidFill>
              </a:rPr>
              <a:t>This API allows access to information regarding games hosted on the Steam platform, as well as accessing information regarding player accounts on steam</a:t>
            </a:r>
          </a:p>
          <a:p>
            <a:r>
              <a:rPr lang="en-US" dirty="0">
                <a:solidFill>
                  <a:srgbClr val="171A21"/>
                </a:solidFill>
              </a:rPr>
              <a:t>Using this we wanted to create a website that accesses information about two players and their games to compare achievements and playtime between them</a:t>
            </a:r>
          </a:p>
          <a:p>
            <a:r>
              <a:rPr lang="en-US" dirty="0">
                <a:solidFill>
                  <a:srgbClr val="171A21"/>
                </a:solidFill>
              </a:rPr>
              <a:t>API format:</a:t>
            </a:r>
          </a:p>
          <a:p>
            <a:pPr lvl="1"/>
            <a:r>
              <a:rPr lang="en-US" dirty="0">
                <a:solidFill>
                  <a:srgbClr val="171A21"/>
                </a:solidFill>
              </a:rPr>
              <a:t>api.steampowered.com/</a:t>
            </a:r>
          </a:p>
          <a:p>
            <a:pPr lvl="2"/>
            <a:r>
              <a:rPr lang="en-US" dirty="0">
                <a:solidFill>
                  <a:srgbClr val="171A21"/>
                </a:solidFill>
              </a:rPr>
              <a:t>Section of API (user, user stats, player service, etc.)</a:t>
            </a:r>
          </a:p>
          <a:p>
            <a:pPr lvl="3"/>
            <a:r>
              <a:rPr lang="en-US" dirty="0">
                <a:solidFill>
                  <a:srgbClr val="171A21"/>
                </a:solidFill>
              </a:rPr>
              <a:t>Specific fetch command</a:t>
            </a:r>
          </a:p>
          <a:p>
            <a:pPr lvl="4"/>
            <a:r>
              <a:rPr lang="en-US" dirty="0">
                <a:solidFill>
                  <a:srgbClr val="171A21"/>
                </a:solidFill>
              </a:rPr>
              <a:t>Arguments</a:t>
            </a:r>
          </a:p>
        </p:txBody>
      </p:sp>
    </p:spTree>
    <p:extLst>
      <p:ext uri="{BB962C8B-B14F-4D97-AF65-F5344CB8AC3E}">
        <p14:creationId xmlns:p14="http://schemas.microsoft.com/office/powerpoint/2010/main" val="2899223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2C1DF-EE62-E77F-3D0B-4450A777C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7D3C94-DB00-C618-9BA3-D542FE07C937}"/>
              </a:ext>
            </a:extLst>
          </p:cNvPr>
          <p:cNvSpPr/>
          <p:nvPr/>
        </p:nvSpPr>
        <p:spPr>
          <a:xfrm>
            <a:off x="-65314" y="-204107"/>
            <a:ext cx="12360728" cy="7192737"/>
          </a:xfrm>
          <a:prstGeom prst="rect">
            <a:avLst/>
          </a:prstGeom>
          <a:solidFill>
            <a:srgbClr val="2A47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A9B756B-B405-A83E-9039-68A822759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7D5E0"/>
                </a:solidFill>
              </a:rPr>
              <a:t>Steam API: Used Endpoints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861CFB3-CED0-FFEB-5B2E-E79C077A68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66C0F4"/>
          </a:solidFill>
          <a:ln w="3175">
            <a:noFill/>
          </a:ln>
          <a:effectLst>
            <a:glow rad="101600">
              <a:srgbClr val="66C0F4">
                <a:alpha val="60000"/>
              </a:srgbClr>
            </a:glow>
          </a:effectLst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171A21"/>
                </a:solidFill>
              </a:rPr>
              <a:t>Endpoint used from this API include:</a:t>
            </a:r>
          </a:p>
          <a:p>
            <a:pPr lvl="1"/>
            <a:r>
              <a:rPr lang="en-US" dirty="0" err="1">
                <a:solidFill>
                  <a:srgbClr val="171A21"/>
                </a:solidFill>
              </a:rPr>
              <a:t>IPlayerService</a:t>
            </a:r>
            <a:r>
              <a:rPr lang="en-US" dirty="0">
                <a:solidFill>
                  <a:srgbClr val="171A21"/>
                </a:solidFill>
              </a:rPr>
              <a:t>/</a:t>
            </a:r>
            <a:r>
              <a:rPr lang="en-US" dirty="0" err="1">
                <a:solidFill>
                  <a:srgbClr val="171A21"/>
                </a:solidFill>
              </a:rPr>
              <a:t>GetOwnedGames</a:t>
            </a:r>
            <a:endParaRPr lang="en-US" dirty="0">
              <a:solidFill>
                <a:srgbClr val="171A21"/>
              </a:solidFill>
            </a:endParaRPr>
          </a:p>
          <a:p>
            <a:pPr lvl="2"/>
            <a:r>
              <a:rPr lang="en-US" dirty="0">
                <a:solidFill>
                  <a:srgbClr val="171A21"/>
                </a:solidFill>
              </a:rPr>
              <a:t>Returns a user’s library with hours spent in each game</a:t>
            </a:r>
          </a:p>
          <a:p>
            <a:pPr lvl="1"/>
            <a:r>
              <a:rPr lang="en-US" dirty="0" err="1">
                <a:solidFill>
                  <a:srgbClr val="171A21"/>
                </a:solidFill>
              </a:rPr>
              <a:t>ISteamUser</a:t>
            </a:r>
            <a:r>
              <a:rPr lang="en-US" dirty="0">
                <a:solidFill>
                  <a:srgbClr val="171A21"/>
                </a:solidFill>
              </a:rPr>
              <a:t>/</a:t>
            </a:r>
            <a:r>
              <a:rPr lang="en-US" dirty="0" err="1">
                <a:solidFill>
                  <a:srgbClr val="171A21"/>
                </a:solidFill>
              </a:rPr>
              <a:t>GetPlayerSummaries</a:t>
            </a:r>
            <a:endParaRPr lang="en-US" dirty="0">
              <a:solidFill>
                <a:srgbClr val="171A21"/>
              </a:solidFill>
            </a:endParaRPr>
          </a:p>
          <a:p>
            <a:pPr lvl="2"/>
            <a:r>
              <a:rPr lang="en-US" dirty="0">
                <a:solidFill>
                  <a:srgbClr val="171A21"/>
                </a:solidFill>
              </a:rPr>
              <a:t>Returns a user’s username and account icon</a:t>
            </a:r>
          </a:p>
          <a:p>
            <a:pPr lvl="1"/>
            <a:r>
              <a:rPr lang="en-US" dirty="0" err="1">
                <a:solidFill>
                  <a:srgbClr val="171A21"/>
                </a:solidFill>
              </a:rPr>
              <a:t>ISteamUserStats</a:t>
            </a:r>
            <a:r>
              <a:rPr lang="en-US" dirty="0">
                <a:solidFill>
                  <a:srgbClr val="171A21"/>
                </a:solidFill>
              </a:rPr>
              <a:t>/</a:t>
            </a:r>
            <a:r>
              <a:rPr lang="en-US" dirty="0" err="1">
                <a:solidFill>
                  <a:srgbClr val="171A21"/>
                </a:solidFill>
              </a:rPr>
              <a:t>GetPlayerAchievements</a:t>
            </a:r>
            <a:endParaRPr lang="en-US" dirty="0">
              <a:solidFill>
                <a:srgbClr val="171A21"/>
              </a:solidFill>
            </a:endParaRPr>
          </a:p>
          <a:p>
            <a:pPr lvl="2"/>
            <a:r>
              <a:rPr lang="en-US" dirty="0">
                <a:solidFill>
                  <a:srgbClr val="171A21"/>
                </a:solidFill>
              </a:rPr>
              <a:t>Returns a list of achievements with </a:t>
            </a:r>
            <a:r>
              <a:rPr lang="en-US" dirty="0" err="1">
                <a:solidFill>
                  <a:srgbClr val="171A21"/>
                </a:solidFill>
              </a:rPr>
              <a:t>api</a:t>
            </a:r>
            <a:r>
              <a:rPr lang="en-US" dirty="0">
                <a:solidFill>
                  <a:srgbClr val="171A21"/>
                </a:solidFill>
              </a:rPr>
              <a:t> names and achievement completion (0 for uncompleted, 1 for completed)</a:t>
            </a:r>
          </a:p>
          <a:p>
            <a:pPr lvl="1"/>
            <a:r>
              <a:rPr lang="en-US" dirty="0" err="1">
                <a:solidFill>
                  <a:srgbClr val="171A21"/>
                </a:solidFill>
              </a:rPr>
              <a:t>ISteamUserStats</a:t>
            </a:r>
            <a:r>
              <a:rPr lang="en-US" dirty="0">
                <a:solidFill>
                  <a:srgbClr val="171A21"/>
                </a:solidFill>
              </a:rPr>
              <a:t>/</a:t>
            </a:r>
            <a:r>
              <a:rPr lang="en-US" dirty="0" err="1">
                <a:solidFill>
                  <a:srgbClr val="171A21"/>
                </a:solidFill>
              </a:rPr>
              <a:t>GetSchemaForGame</a:t>
            </a:r>
            <a:endParaRPr lang="en-US" dirty="0">
              <a:solidFill>
                <a:srgbClr val="171A21"/>
              </a:solidFill>
            </a:endParaRPr>
          </a:p>
          <a:p>
            <a:pPr lvl="2"/>
            <a:r>
              <a:rPr lang="en-US" dirty="0">
                <a:solidFill>
                  <a:srgbClr val="171A21"/>
                </a:solidFill>
              </a:rPr>
              <a:t>Returns a list of achievement </a:t>
            </a:r>
            <a:r>
              <a:rPr lang="en-US" dirty="0" err="1">
                <a:solidFill>
                  <a:srgbClr val="171A21"/>
                </a:solidFill>
              </a:rPr>
              <a:t>api</a:t>
            </a:r>
            <a:r>
              <a:rPr lang="en-US" dirty="0">
                <a:solidFill>
                  <a:srgbClr val="171A21"/>
                </a:solidFill>
              </a:rPr>
              <a:t> names, display names, and achievement icons</a:t>
            </a:r>
          </a:p>
          <a:p>
            <a:pPr lvl="1"/>
            <a:r>
              <a:rPr lang="en-US" dirty="0" err="1">
                <a:solidFill>
                  <a:srgbClr val="171A21"/>
                </a:solidFill>
              </a:rPr>
              <a:t>appdetails</a:t>
            </a:r>
            <a:endParaRPr lang="en-US" dirty="0">
              <a:solidFill>
                <a:srgbClr val="171A21"/>
              </a:solidFill>
            </a:endParaRPr>
          </a:p>
          <a:p>
            <a:pPr lvl="2"/>
            <a:r>
              <a:rPr lang="en-US" dirty="0">
                <a:solidFill>
                  <a:srgbClr val="171A21"/>
                </a:solidFill>
              </a:rPr>
              <a:t>Different API, returns Steam store info about a game, we use the game icon</a:t>
            </a:r>
          </a:p>
          <a:p>
            <a:pPr lvl="2"/>
            <a:r>
              <a:rPr lang="en-US" dirty="0">
                <a:solidFill>
                  <a:srgbClr val="171A21"/>
                </a:solidFill>
              </a:rPr>
              <a:t>Located at store.steampowered.com/</a:t>
            </a:r>
            <a:r>
              <a:rPr lang="en-US" dirty="0" err="1">
                <a:solidFill>
                  <a:srgbClr val="171A21"/>
                </a:solidFill>
              </a:rPr>
              <a:t>api</a:t>
            </a:r>
            <a:endParaRPr lang="en-US" dirty="0">
              <a:solidFill>
                <a:srgbClr val="171A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080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C6960-D83C-8C80-FBDC-6BFF17FD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A133D0-F49F-90E0-E7D7-48C317C08082}"/>
              </a:ext>
            </a:extLst>
          </p:cNvPr>
          <p:cNvSpPr/>
          <p:nvPr/>
        </p:nvSpPr>
        <p:spPr>
          <a:xfrm>
            <a:off x="-65314" y="-204107"/>
            <a:ext cx="12360728" cy="7192737"/>
          </a:xfrm>
          <a:prstGeom prst="rect">
            <a:avLst/>
          </a:prstGeom>
          <a:solidFill>
            <a:srgbClr val="2A47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D611026-2889-3E9E-D63D-F6CC9E710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7D5E0"/>
                </a:solidFill>
              </a:rPr>
              <a:t>General Design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9C43B49-6587-DE86-C35F-2707CB03EF2D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66C0F4"/>
          </a:solidFill>
          <a:ln w="3175">
            <a:noFill/>
          </a:ln>
          <a:effectLst>
            <a:glow rad="101600">
              <a:srgbClr val="66C0F4">
                <a:alpha val="60000"/>
              </a:srgbClr>
            </a:glo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171A21"/>
                </a:solidFill>
              </a:rPr>
              <a:t>For our design we wanted to try to emulate Steam’s simple design</a:t>
            </a:r>
          </a:p>
          <a:p>
            <a:r>
              <a:rPr lang="en-US" dirty="0">
                <a:solidFill>
                  <a:srgbClr val="171A21"/>
                </a:solidFill>
              </a:rPr>
              <a:t>In order to imitate this, we:</a:t>
            </a:r>
          </a:p>
          <a:p>
            <a:pPr lvl="1"/>
            <a:r>
              <a:rPr lang="en-US" dirty="0">
                <a:solidFill>
                  <a:srgbClr val="171A21"/>
                </a:solidFill>
              </a:rPr>
              <a:t>Imitated the simple color scheme, limiting to dark grey and blue colors.</a:t>
            </a:r>
          </a:p>
          <a:p>
            <a:pPr lvl="1"/>
            <a:r>
              <a:rPr lang="en-US" dirty="0">
                <a:solidFill>
                  <a:srgbClr val="171A21"/>
                </a:solidFill>
              </a:rPr>
              <a:t>Imitated the same two-part design, with a simple head body design.</a:t>
            </a:r>
          </a:p>
          <a:p>
            <a:r>
              <a:rPr lang="en-US" dirty="0">
                <a:solidFill>
                  <a:srgbClr val="171A21"/>
                </a:solidFill>
              </a:rPr>
              <a:t>When designing the program, we wanted to implement a two-state system.</a:t>
            </a:r>
          </a:p>
          <a:p>
            <a:pPr lvl="1"/>
            <a:r>
              <a:rPr lang="en-US" dirty="0">
                <a:solidFill>
                  <a:srgbClr val="171A21"/>
                </a:solidFill>
              </a:rPr>
              <a:t>After the user gives input, instead of changing pages it will make the first div invisible and populate a second div with information pulled from API endpoints</a:t>
            </a:r>
          </a:p>
        </p:txBody>
      </p:sp>
    </p:spTree>
    <p:extLst>
      <p:ext uri="{BB962C8B-B14F-4D97-AF65-F5344CB8AC3E}">
        <p14:creationId xmlns:p14="http://schemas.microsoft.com/office/powerpoint/2010/main" val="3700177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16E92-9BFB-BD23-4689-82F67A7F4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155022-14C5-F44C-2252-4CF7C76A37DF}"/>
              </a:ext>
            </a:extLst>
          </p:cNvPr>
          <p:cNvSpPr/>
          <p:nvPr/>
        </p:nvSpPr>
        <p:spPr>
          <a:xfrm>
            <a:off x="-65314" y="-204107"/>
            <a:ext cx="12360728" cy="7192737"/>
          </a:xfrm>
          <a:prstGeom prst="rect">
            <a:avLst/>
          </a:prstGeom>
          <a:solidFill>
            <a:srgbClr val="2A47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1B7AEBB-5F27-2484-91A3-9EF1F0A7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7D5E0"/>
                </a:solidFill>
              </a:rPr>
              <a:t>Comparison Design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D6F0261-5317-7FCE-770A-881AFA3CA23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66C0F4"/>
          </a:solidFill>
          <a:ln w="3175">
            <a:noFill/>
          </a:ln>
          <a:effectLst>
            <a:glow rad="101600">
              <a:srgbClr val="66C0F4">
                <a:alpha val="60000"/>
              </a:srgbClr>
            </a:glow>
          </a:effectLst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171A21"/>
                </a:solidFill>
              </a:rPr>
              <a:t>We wanted to focus information the user would want to compare the most.</a:t>
            </a:r>
          </a:p>
          <a:p>
            <a:pPr lvl="1"/>
            <a:r>
              <a:rPr lang="en-US" dirty="0">
                <a:solidFill>
                  <a:srgbClr val="171A21"/>
                </a:solidFill>
              </a:rPr>
              <a:t>These would be hours spent in game, and achievements obtained.  </a:t>
            </a:r>
          </a:p>
          <a:p>
            <a:r>
              <a:rPr lang="en-US" dirty="0">
                <a:solidFill>
                  <a:srgbClr val="171A21"/>
                </a:solidFill>
              </a:rPr>
              <a:t>To convey information, we used a large amount of accordion boxes</a:t>
            </a:r>
          </a:p>
          <a:p>
            <a:pPr lvl="1"/>
            <a:r>
              <a:rPr lang="en-US" dirty="0">
                <a:solidFill>
                  <a:srgbClr val="171A21"/>
                </a:solidFill>
              </a:rPr>
              <a:t>Because some games have a very large number of achievements, this was the most effective way for convenient searching</a:t>
            </a:r>
          </a:p>
          <a:p>
            <a:r>
              <a:rPr lang="en-US" dirty="0">
                <a:solidFill>
                  <a:srgbClr val="171A21"/>
                </a:solidFill>
              </a:rPr>
              <a:t>Other information to convey </a:t>
            </a:r>
          </a:p>
          <a:p>
            <a:pPr lvl="1"/>
            <a:r>
              <a:rPr lang="en-US" dirty="0">
                <a:solidFill>
                  <a:srgbClr val="171A21"/>
                </a:solidFill>
              </a:rPr>
              <a:t>Game name: Adds necessary context for user</a:t>
            </a:r>
          </a:p>
          <a:p>
            <a:pPr lvl="1"/>
            <a:r>
              <a:rPr lang="en-US" dirty="0">
                <a:solidFill>
                  <a:srgbClr val="171A21"/>
                </a:solidFill>
              </a:rPr>
              <a:t>Game Icon: Makes website look better, and if game name is missing the icon will then be able to convey what game the achievements are for.</a:t>
            </a:r>
          </a:p>
        </p:txBody>
      </p:sp>
    </p:spTree>
    <p:extLst>
      <p:ext uri="{BB962C8B-B14F-4D97-AF65-F5344CB8AC3E}">
        <p14:creationId xmlns:p14="http://schemas.microsoft.com/office/powerpoint/2010/main" val="4077749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18FD4-7CC2-4D50-899F-85C2AA4C3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A959A0-1D64-AAF5-F81F-E267AEA4A595}"/>
              </a:ext>
            </a:extLst>
          </p:cNvPr>
          <p:cNvSpPr/>
          <p:nvPr/>
        </p:nvSpPr>
        <p:spPr>
          <a:xfrm>
            <a:off x="-65314" y="-204107"/>
            <a:ext cx="12360728" cy="7192737"/>
          </a:xfrm>
          <a:prstGeom prst="rect">
            <a:avLst/>
          </a:prstGeom>
          <a:solidFill>
            <a:srgbClr val="2A47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0D5DA80-A81B-8EF9-59C4-4013FDFEA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C7D5E0"/>
                </a:solidFill>
              </a:rPr>
              <a:t>Color Design Document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23EAB4-40D0-81B6-D126-7E1B285F3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035" y="2128383"/>
            <a:ext cx="7390027" cy="47296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A6FF4F0-C7E6-CC0B-6DA1-FD1CC2E4C8F7}"/>
              </a:ext>
            </a:extLst>
          </p:cNvPr>
          <p:cNvSpPr/>
          <p:nvPr/>
        </p:nvSpPr>
        <p:spPr>
          <a:xfrm>
            <a:off x="-130630" y="-251927"/>
            <a:ext cx="2550665" cy="7352523"/>
          </a:xfrm>
          <a:prstGeom prst="rect">
            <a:avLst/>
          </a:prstGeom>
          <a:solidFill>
            <a:srgbClr val="171A21"/>
          </a:solidFill>
          <a:ln>
            <a:solidFill>
              <a:srgbClr val="66C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497782-2EAD-6B42-1F60-FDFE1286AEA2}"/>
              </a:ext>
            </a:extLst>
          </p:cNvPr>
          <p:cNvSpPr/>
          <p:nvPr/>
        </p:nvSpPr>
        <p:spPr>
          <a:xfrm>
            <a:off x="9810065" y="-251928"/>
            <a:ext cx="2550665" cy="7352523"/>
          </a:xfrm>
          <a:prstGeom prst="rect">
            <a:avLst/>
          </a:prstGeom>
          <a:solidFill>
            <a:srgbClr val="171A21"/>
          </a:solidFill>
          <a:ln>
            <a:solidFill>
              <a:srgbClr val="66C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79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FB23B-7D8D-D97F-5E7E-09766658B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DFBA98-5068-3D93-75FD-01B4BD17C213}"/>
              </a:ext>
            </a:extLst>
          </p:cNvPr>
          <p:cNvSpPr/>
          <p:nvPr/>
        </p:nvSpPr>
        <p:spPr>
          <a:xfrm>
            <a:off x="-65314" y="-204107"/>
            <a:ext cx="12360728" cy="7192737"/>
          </a:xfrm>
          <a:prstGeom prst="rect">
            <a:avLst/>
          </a:prstGeom>
          <a:solidFill>
            <a:srgbClr val="2A47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24BC2B1-9419-E094-FF4E-1162FB376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C7D5E0"/>
                </a:solidFill>
              </a:rPr>
              <a:t>DOM html Diagram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89D912-20B7-61AA-1457-AA235D8BD598}"/>
              </a:ext>
            </a:extLst>
          </p:cNvPr>
          <p:cNvSpPr/>
          <p:nvPr/>
        </p:nvSpPr>
        <p:spPr>
          <a:xfrm>
            <a:off x="-130630" y="-251927"/>
            <a:ext cx="1715585" cy="7352523"/>
          </a:xfrm>
          <a:prstGeom prst="rect">
            <a:avLst/>
          </a:prstGeom>
          <a:solidFill>
            <a:srgbClr val="171A21"/>
          </a:solidFill>
          <a:ln>
            <a:solidFill>
              <a:srgbClr val="66C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D7FF16-96AD-A25F-C842-AE219E1E4363}"/>
              </a:ext>
            </a:extLst>
          </p:cNvPr>
          <p:cNvSpPr/>
          <p:nvPr/>
        </p:nvSpPr>
        <p:spPr>
          <a:xfrm>
            <a:off x="10645145" y="-251928"/>
            <a:ext cx="1715585" cy="7352523"/>
          </a:xfrm>
          <a:prstGeom prst="rect">
            <a:avLst/>
          </a:prstGeom>
          <a:solidFill>
            <a:srgbClr val="171A21"/>
          </a:solidFill>
          <a:ln>
            <a:solidFill>
              <a:srgbClr val="66C0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5F70F4-A70A-1EC0-B2AE-1E6DF2D16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928" y="1560058"/>
            <a:ext cx="8929559" cy="5297942"/>
          </a:xfrm>
          <a:prstGeom prst="rect">
            <a:avLst/>
          </a:prstGeom>
          <a:ln w="19050">
            <a:solidFill>
              <a:srgbClr val="66C0F4"/>
            </a:solidFill>
          </a:ln>
        </p:spPr>
      </p:pic>
    </p:spTree>
    <p:extLst>
      <p:ext uri="{BB962C8B-B14F-4D97-AF65-F5344CB8AC3E}">
        <p14:creationId xmlns:p14="http://schemas.microsoft.com/office/powerpoint/2010/main" val="2995496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E6103-6E13-39CE-A2CF-478D376F1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E24D5B-123C-355B-6FAB-78E56ADE1A4D}"/>
              </a:ext>
            </a:extLst>
          </p:cNvPr>
          <p:cNvSpPr/>
          <p:nvPr/>
        </p:nvSpPr>
        <p:spPr>
          <a:xfrm>
            <a:off x="-65314" y="-204107"/>
            <a:ext cx="12360728" cy="7192737"/>
          </a:xfrm>
          <a:prstGeom prst="rect">
            <a:avLst/>
          </a:prstGeom>
          <a:solidFill>
            <a:srgbClr val="66C0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898C76B-E1E9-9662-2990-E586C1DB9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-4805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71A21"/>
                </a:solidFill>
              </a:rPr>
              <a:t>Prototypes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E7DC82-8B52-8AA7-095D-D0032B56D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314" y="2064893"/>
            <a:ext cx="4120183" cy="36109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F372D2-07A6-A078-2B57-60747BB794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062" y="1147662"/>
            <a:ext cx="3048777" cy="54454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094B25-2C58-53E9-3C08-B88757926A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685" y="1657466"/>
            <a:ext cx="4730561" cy="4145885"/>
          </a:xfrm>
          <a:prstGeom prst="rect">
            <a:avLst/>
          </a:prstGeom>
        </p:spPr>
      </p:pic>
      <p:sp>
        <p:nvSpPr>
          <p:cNvPr id="13" name="Title 8">
            <a:extLst>
              <a:ext uri="{FF2B5EF4-FFF2-40B4-BE49-F238E27FC236}">
                <a16:creationId xmlns:a16="http://schemas.microsoft.com/office/drawing/2014/main" id="{AA920064-1D63-C1B0-261B-5BB1E7650AA5}"/>
              </a:ext>
            </a:extLst>
          </p:cNvPr>
          <p:cNvSpPr txBox="1">
            <a:spLocks/>
          </p:cNvSpPr>
          <p:nvPr/>
        </p:nvSpPr>
        <p:spPr>
          <a:xfrm>
            <a:off x="469002" y="1356613"/>
            <a:ext cx="2769248" cy="6778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2A475E"/>
                </a:solidFill>
              </a:rPr>
              <a:t>About Page</a:t>
            </a:r>
          </a:p>
        </p:txBody>
      </p:sp>
      <p:sp>
        <p:nvSpPr>
          <p:cNvPr id="14" name="Title 8">
            <a:extLst>
              <a:ext uri="{FF2B5EF4-FFF2-40B4-BE49-F238E27FC236}">
                <a16:creationId xmlns:a16="http://schemas.microsoft.com/office/drawing/2014/main" id="{22282486-A57B-F31F-655B-5634E06D92D4}"/>
              </a:ext>
            </a:extLst>
          </p:cNvPr>
          <p:cNvSpPr txBox="1">
            <a:spLocks/>
          </p:cNvSpPr>
          <p:nvPr/>
        </p:nvSpPr>
        <p:spPr>
          <a:xfrm>
            <a:off x="5298341" y="978158"/>
            <a:ext cx="2769248" cy="6778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2A475E"/>
                </a:solidFill>
              </a:rPr>
              <a:t>Input Screen</a:t>
            </a: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7A19F983-9CEF-9A2E-5EC1-18DBAE5A98DF}"/>
              </a:ext>
            </a:extLst>
          </p:cNvPr>
          <p:cNvSpPr txBox="1">
            <a:spLocks/>
          </p:cNvSpPr>
          <p:nvPr/>
        </p:nvSpPr>
        <p:spPr>
          <a:xfrm>
            <a:off x="9450826" y="413199"/>
            <a:ext cx="2769248" cy="6778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2A475E"/>
                </a:solidFill>
              </a:rPr>
              <a:t>Comparison </a:t>
            </a:r>
          </a:p>
          <a:p>
            <a:pPr algn="ctr"/>
            <a:r>
              <a:rPr lang="en-US" sz="3600" dirty="0">
                <a:solidFill>
                  <a:srgbClr val="2A475E"/>
                </a:solidFill>
              </a:rPr>
              <a:t>Screen</a:t>
            </a:r>
          </a:p>
        </p:txBody>
      </p:sp>
    </p:spTree>
    <p:extLst>
      <p:ext uri="{BB962C8B-B14F-4D97-AF65-F5344CB8AC3E}">
        <p14:creationId xmlns:p14="http://schemas.microsoft.com/office/powerpoint/2010/main" val="2142594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83FC4-F481-7764-A7A2-FEDA68E2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D9C918-F73A-5448-19B0-E7D5248B94B4}"/>
              </a:ext>
            </a:extLst>
          </p:cNvPr>
          <p:cNvSpPr/>
          <p:nvPr/>
        </p:nvSpPr>
        <p:spPr>
          <a:xfrm>
            <a:off x="-65314" y="-204107"/>
            <a:ext cx="12360728" cy="7192737"/>
          </a:xfrm>
          <a:prstGeom prst="rect">
            <a:avLst/>
          </a:prstGeom>
          <a:solidFill>
            <a:srgbClr val="2A47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E10E5FB-5FE8-5445-2FCE-8B9CD568C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7D5E0"/>
                </a:solidFill>
              </a:rPr>
              <a:t>Programming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EE202E3-240F-63AC-056D-20E5CB270548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66C0F4"/>
          </a:solidFill>
          <a:ln w="3175">
            <a:noFill/>
          </a:ln>
          <a:effectLst>
            <a:glow rad="101600">
              <a:srgbClr val="66C0F4">
                <a:alpha val="60000"/>
              </a:srgbClr>
            </a:glo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171A21"/>
                </a:solidFill>
              </a:rPr>
              <a:t>APIs</a:t>
            </a:r>
          </a:p>
          <a:p>
            <a:pPr lvl="1"/>
            <a:r>
              <a:rPr lang="en-US" dirty="0">
                <a:solidFill>
                  <a:srgbClr val="171A21"/>
                </a:solidFill>
              </a:rPr>
              <a:t>For API gathering we took a more “Object Oriented” approach</a:t>
            </a:r>
          </a:p>
          <a:p>
            <a:pPr lvl="2"/>
            <a:r>
              <a:rPr lang="en-US" dirty="0">
                <a:solidFill>
                  <a:srgbClr val="171A21"/>
                </a:solidFill>
              </a:rPr>
              <a:t>All endpoints contained in their own function, which references “Fetch API”, and would do any necessary data cleaning</a:t>
            </a:r>
          </a:p>
          <a:p>
            <a:pPr lvl="3"/>
            <a:r>
              <a:rPr lang="en-US" dirty="0">
                <a:solidFill>
                  <a:srgbClr val="171A21"/>
                </a:solidFill>
              </a:rPr>
              <a:t>Fetch API grabs and returns information from any endpoint.</a:t>
            </a:r>
          </a:p>
          <a:p>
            <a:pPr lvl="2"/>
            <a:r>
              <a:rPr lang="en-US" dirty="0">
                <a:solidFill>
                  <a:srgbClr val="171A21"/>
                </a:solidFill>
              </a:rPr>
              <a:t>All functions would then be called from “</a:t>
            </a:r>
            <a:r>
              <a:rPr lang="en-US" dirty="0" err="1">
                <a:solidFill>
                  <a:srgbClr val="171A21"/>
                </a:solidFill>
              </a:rPr>
              <a:t>FetchInformation</a:t>
            </a:r>
            <a:r>
              <a:rPr lang="en-US" dirty="0">
                <a:solidFill>
                  <a:srgbClr val="171A21"/>
                </a:solidFill>
              </a:rPr>
              <a:t>” then fed into functions that populate the webpage</a:t>
            </a:r>
          </a:p>
          <a:p>
            <a:pPr lvl="3"/>
            <a:r>
              <a:rPr lang="en-US" dirty="0">
                <a:solidFill>
                  <a:srgbClr val="171A21"/>
                </a:solidFill>
              </a:rPr>
              <a:t>Fetch information calls all API functions, then calls “</a:t>
            </a:r>
            <a:r>
              <a:rPr lang="en-US" dirty="0" err="1">
                <a:solidFill>
                  <a:srgbClr val="171A21"/>
                </a:solidFill>
              </a:rPr>
              <a:t>CompareLibraries</a:t>
            </a:r>
            <a:r>
              <a:rPr lang="en-US" dirty="0">
                <a:solidFill>
                  <a:srgbClr val="171A21"/>
                </a:solidFill>
              </a:rPr>
              <a:t>” and returns relevant information</a:t>
            </a:r>
          </a:p>
          <a:p>
            <a:pPr lvl="4"/>
            <a:r>
              <a:rPr lang="en-US" dirty="0">
                <a:solidFill>
                  <a:srgbClr val="171A21"/>
                </a:solidFill>
              </a:rPr>
              <a:t>Compare Libraries accepts two libraries and returns a list of games each player has in common</a:t>
            </a:r>
          </a:p>
        </p:txBody>
      </p:sp>
    </p:spTree>
    <p:extLst>
      <p:ext uri="{BB962C8B-B14F-4D97-AF65-F5344CB8AC3E}">
        <p14:creationId xmlns:p14="http://schemas.microsoft.com/office/powerpoint/2010/main" val="3794637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D8FB-DAEA-FEF0-B9C7-BB30B1FD2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54E984-EA62-9E85-CB94-8561954CBBE2}"/>
              </a:ext>
            </a:extLst>
          </p:cNvPr>
          <p:cNvSpPr/>
          <p:nvPr/>
        </p:nvSpPr>
        <p:spPr>
          <a:xfrm>
            <a:off x="-65314" y="-204107"/>
            <a:ext cx="12360728" cy="7192737"/>
          </a:xfrm>
          <a:prstGeom prst="rect">
            <a:avLst/>
          </a:prstGeom>
          <a:solidFill>
            <a:srgbClr val="2A47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A5F6DF6-CE53-9942-218D-31C4A1E52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7D5E0"/>
                </a:solidFill>
              </a:rPr>
              <a:t>Programming Challenges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DA7AD3E-768A-17EC-904C-FA1A3101DC45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66C0F4"/>
          </a:solidFill>
          <a:ln w="3175">
            <a:noFill/>
          </a:ln>
          <a:effectLst>
            <a:glow rad="101600">
              <a:srgbClr val="66C0F4">
                <a:alpha val="60000"/>
              </a:srgbClr>
            </a:glow>
          </a:effectLst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171A21"/>
                </a:solidFill>
              </a:rPr>
              <a:t>Steam API</a:t>
            </a:r>
          </a:p>
          <a:p>
            <a:pPr lvl="1"/>
            <a:r>
              <a:rPr lang="en-US" dirty="0">
                <a:solidFill>
                  <a:srgbClr val="171A21"/>
                </a:solidFill>
              </a:rPr>
              <a:t>Largest problem was inconsistent output</a:t>
            </a:r>
          </a:p>
          <a:p>
            <a:pPr lvl="2"/>
            <a:r>
              <a:rPr lang="en-US" dirty="0">
                <a:solidFill>
                  <a:srgbClr val="171A21"/>
                </a:solidFill>
              </a:rPr>
              <a:t>Some games have empty or undefined names</a:t>
            </a:r>
          </a:p>
          <a:p>
            <a:pPr lvl="2"/>
            <a:r>
              <a:rPr lang="en-US" dirty="0">
                <a:solidFill>
                  <a:srgbClr val="171A21"/>
                </a:solidFill>
              </a:rPr>
              <a:t>Games without achievements return empty arrays</a:t>
            </a:r>
          </a:p>
          <a:p>
            <a:pPr lvl="2"/>
            <a:r>
              <a:rPr lang="en-US" dirty="0">
                <a:solidFill>
                  <a:srgbClr val="171A21"/>
                </a:solidFill>
              </a:rPr>
              <a:t>At one point a player id stopped working, reason was never found and the issue fixed itself</a:t>
            </a:r>
          </a:p>
          <a:p>
            <a:pPr lvl="2"/>
            <a:r>
              <a:rPr lang="en-US" dirty="0">
                <a:solidFill>
                  <a:srgbClr val="171A21"/>
                </a:solidFill>
              </a:rPr>
              <a:t>Most of these issues were fixed by checking info validity</a:t>
            </a:r>
          </a:p>
          <a:p>
            <a:r>
              <a:rPr lang="en-US" dirty="0">
                <a:solidFill>
                  <a:srgbClr val="171A21"/>
                </a:solidFill>
              </a:rPr>
              <a:t>HTML</a:t>
            </a:r>
          </a:p>
          <a:p>
            <a:pPr lvl="1"/>
            <a:r>
              <a:rPr lang="en-US" dirty="0">
                <a:solidFill>
                  <a:srgbClr val="171A21"/>
                </a:solidFill>
              </a:rPr>
              <a:t>Large number of elements needing to be filled with a large amount of information. </a:t>
            </a:r>
          </a:p>
          <a:p>
            <a:pPr lvl="2"/>
            <a:r>
              <a:rPr lang="en-US" dirty="0">
                <a:solidFill>
                  <a:srgbClr val="171A21"/>
                </a:solidFill>
              </a:rPr>
              <a:t>Needs to be able to work with variable amounts of data, which means a large amount of programming required.</a:t>
            </a:r>
          </a:p>
          <a:p>
            <a:pPr lvl="1"/>
            <a:r>
              <a:rPr lang="en-US" dirty="0">
                <a:solidFill>
                  <a:srgbClr val="171A21"/>
                </a:solidFill>
              </a:rPr>
              <a:t>Program needs to be able to function with empty or missing information, as a result program needs more scenarios programmed into checks.</a:t>
            </a:r>
          </a:p>
          <a:p>
            <a:pPr lvl="1"/>
            <a:endParaRPr lang="en-US" dirty="0">
              <a:solidFill>
                <a:srgbClr val="171A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99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2A888-4965-1113-0826-DEE17FE5E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2569DA-7012-0F33-4B25-4A8CC333365A}"/>
              </a:ext>
            </a:extLst>
          </p:cNvPr>
          <p:cNvSpPr/>
          <p:nvPr/>
        </p:nvSpPr>
        <p:spPr>
          <a:xfrm>
            <a:off x="-65314" y="-204107"/>
            <a:ext cx="12360728" cy="7192737"/>
          </a:xfrm>
          <a:prstGeom prst="rect">
            <a:avLst/>
          </a:prstGeom>
          <a:solidFill>
            <a:srgbClr val="2A475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66916FA-BC5C-11C4-972B-AABF01BD5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7D5E0"/>
                </a:solidFill>
              </a:rPr>
              <a:t>What we Could’ve Done Next.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931997E-7138-6AC4-95D8-50A7B1B058FB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rgbClr val="66C0F4"/>
          </a:solidFill>
          <a:ln w="3175">
            <a:noFill/>
          </a:ln>
          <a:effectLst>
            <a:glow rad="101600">
              <a:srgbClr val="66C0F4">
                <a:alpha val="60000"/>
              </a:srgbClr>
            </a:glow>
          </a:effectLst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171A21"/>
                </a:solidFill>
              </a:rPr>
              <a:t>Improved efficiency</a:t>
            </a:r>
          </a:p>
          <a:p>
            <a:pPr lvl="1"/>
            <a:r>
              <a:rPr lang="en-US" dirty="0">
                <a:solidFill>
                  <a:srgbClr val="171A21"/>
                </a:solidFill>
              </a:rPr>
              <a:t>Program takes a long time to run with large libraries</a:t>
            </a:r>
          </a:p>
          <a:p>
            <a:pPr lvl="2"/>
            <a:r>
              <a:rPr lang="en-US" dirty="0">
                <a:solidFill>
                  <a:srgbClr val="171A21"/>
                </a:solidFill>
              </a:rPr>
              <a:t>Information we receive is sorted by </a:t>
            </a:r>
            <a:r>
              <a:rPr lang="en-US" dirty="0" err="1">
                <a:solidFill>
                  <a:srgbClr val="171A21"/>
                </a:solidFill>
              </a:rPr>
              <a:t>appid</a:t>
            </a:r>
            <a:r>
              <a:rPr lang="en-US" dirty="0">
                <a:solidFill>
                  <a:srgbClr val="171A21"/>
                </a:solidFill>
              </a:rPr>
              <a:t>, looping could be faster</a:t>
            </a:r>
          </a:p>
          <a:p>
            <a:r>
              <a:rPr lang="en-US" dirty="0">
                <a:solidFill>
                  <a:srgbClr val="171A21"/>
                </a:solidFill>
              </a:rPr>
              <a:t>Id searching</a:t>
            </a:r>
          </a:p>
          <a:p>
            <a:pPr lvl="1"/>
            <a:r>
              <a:rPr lang="en-US" dirty="0">
                <a:solidFill>
                  <a:srgbClr val="171A21"/>
                </a:solidFill>
              </a:rPr>
              <a:t>Allow user to search id with steam name</a:t>
            </a:r>
          </a:p>
          <a:p>
            <a:pPr lvl="2"/>
            <a:r>
              <a:rPr lang="en-US" dirty="0">
                <a:solidFill>
                  <a:srgbClr val="171A21"/>
                </a:solidFill>
              </a:rPr>
              <a:t>More intuitive</a:t>
            </a:r>
          </a:p>
          <a:p>
            <a:r>
              <a:rPr lang="en-US" dirty="0">
                <a:solidFill>
                  <a:srgbClr val="171A21"/>
                </a:solidFill>
              </a:rPr>
              <a:t>Compare against friends list</a:t>
            </a:r>
          </a:p>
          <a:p>
            <a:pPr lvl="1"/>
            <a:r>
              <a:rPr lang="en-US" dirty="0">
                <a:solidFill>
                  <a:srgbClr val="171A21"/>
                </a:solidFill>
              </a:rPr>
              <a:t>Instead accept one id and search friends list</a:t>
            </a:r>
          </a:p>
          <a:p>
            <a:r>
              <a:rPr lang="en-US" dirty="0">
                <a:solidFill>
                  <a:srgbClr val="171A21"/>
                </a:solidFill>
              </a:rPr>
              <a:t>Hard code specific scenarios currently disregarded</a:t>
            </a:r>
          </a:p>
          <a:p>
            <a:pPr lvl="1"/>
            <a:r>
              <a:rPr lang="en-US" dirty="0">
                <a:solidFill>
                  <a:srgbClr val="171A21"/>
                </a:solidFill>
              </a:rPr>
              <a:t>Some games return bad info and are disregarded, including some that could potentially be included. EX: Deadlock</a:t>
            </a:r>
          </a:p>
          <a:p>
            <a:r>
              <a:rPr lang="en-US" dirty="0">
                <a:solidFill>
                  <a:srgbClr val="171A21"/>
                </a:solidFill>
              </a:rPr>
              <a:t>Stats comparing</a:t>
            </a:r>
          </a:p>
          <a:p>
            <a:pPr lvl="1"/>
            <a:r>
              <a:rPr lang="en-US" dirty="0">
                <a:solidFill>
                  <a:srgbClr val="171A21"/>
                </a:solidFill>
              </a:rPr>
              <a:t>Some games store specific stats, but because it’s so few we determined that they were too much of an edge case to be in scope.</a:t>
            </a:r>
          </a:p>
        </p:txBody>
      </p:sp>
    </p:spTree>
    <p:extLst>
      <p:ext uri="{BB962C8B-B14F-4D97-AF65-F5344CB8AC3E}">
        <p14:creationId xmlns:p14="http://schemas.microsoft.com/office/powerpoint/2010/main" val="1707849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709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CYBR 405: Steam Compare</vt:lpstr>
      <vt:lpstr>Chosen API: Steam</vt:lpstr>
      <vt:lpstr>Steam API: Used Endpoints</vt:lpstr>
      <vt:lpstr>General Design</vt:lpstr>
      <vt:lpstr>Comparison Design</vt:lpstr>
      <vt:lpstr>Color Design Document</vt:lpstr>
      <vt:lpstr>DOM html Diagram</vt:lpstr>
      <vt:lpstr>Prototypes</vt:lpstr>
      <vt:lpstr>Programming</vt:lpstr>
      <vt:lpstr>Programming Challenges</vt:lpstr>
      <vt:lpstr>What we Could’ve Done Next.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Zach Madison</dc:creator>
  <cp:lastModifiedBy>Zach Madison</cp:lastModifiedBy>
  <cp:revision>1</cp:revision>
  <dcterms:created xsi:type="dcterms:W3CDTF">2025-12-14T18:17:38Z</dcterms:created>
  <dcterms:modified xsi:type="dcterms:W3CDTF">2025-12-14T20:16:36Z</dcterms:modified>
</cp:coreProperties>
</file>